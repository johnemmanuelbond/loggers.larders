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Lst>
  <p:sldSz cx="7772400" cy="100584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0" d="100"/>
          <a:sy n="50" d="100"/>
        </p:scale>
        <p:origin x="19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6/25/2024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896092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6/25/2024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742878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4BEB1E-4C7A-4CCA-99B1-324C18C730E6}" type="datetimeFigureOut">
              <a:rPr lang="en-US" smtClean="0"/>
              <a:t>6/25/2024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08217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4BEB1E-4C7A-4CCA-99B1-324C18C730E6}" type="datetimeFigureOut">
              <a:rPr lang="en-US" smtClean="0"/>
              <a:t>6/25/2024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4189428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4BEB1E-4C7A-4CCA-99B1-324C18C730E6}" type="datetimeFigureOut">
              <a:rPr lang="en-US" smtClean="0"/>
              <a:t>6/25/2024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50040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4BEB1E-4C7A-4CCA-99B1-324C18C730E6}" type="datetimeFigureOut">
              <a:rPr lang="en-US" smtClean="0"/>
              <a:t>6/25/2024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656039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4BEB1E-4C7A-4CCA-99B1-324C18C730E6}" type="datetimeFigureOut">
              <a:rPr lang="en-US" smtClean="0"/>
              <a:t>6/25/2024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2031134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1C4BEB1E-4C7A-4CCA-99B1-324C18C730E6}" type="datetimeFigureOut">
              <a:rPr lang="en-US" smtClean="0"/>
              <a:t>6/25/2024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2484895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1C4BEB1E-4C7A-4CCA-99B1-324C18C730E6}" type="datetimeFigureOut">
              <a:rPr lang="en-US" smtClean="0"/>
              <a:t>6/25/2024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506618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6/25/2024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2434484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6/25/2024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3784124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1C4BEB1E-4C7A-4CCA-99B1-324C18C730E6}" type="datetimeFigureOut">
              <a:rPr lang="en-US" smtClean="0"/>
              <a:t>6/25/2024</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471FB4B3-9B17-4EFC-A834-9A8EAB9166EA}" type="slidenum">
              <a:rPr lang="en-US" smtClean="0"/>
              <a:t>‹#›</a:t>
            </a:fld>
            <a:endParaRPr lang="en-US"/>
          </a:p>
        </p:txBody>
      </p:sp>
    </p:spTree>
    <p:extLst>
      <p:ext uri="{BB962C8B-B14F-4D97-AF65-F5344CB8AC3E}">
        <p14:creationId xmlns:p14="http://schemas.microsoft.com/office/powerpoint/2010/main" val="4023343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ap of a mountain range&#10;&#10;Description automatically generated">
            <a:extLst>
              <a:ext uri="{FF2B5EF4-FFF2-40B4-BE49-F238E27FC236}">
                <a16:creationId xmlns:a16="http://schemas.microsoft.com/office/drawing/2014/main" id="{51AB8398-CBEA-110E-0D29-F56A7A040E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008018" y="1358536"/>
            <a:ext cx="9788435" cy="7341326"/>
          </a:xfrm>
          <a:prstGeom prst="rect">
            <a:avLst/>
          </a:prstGeom>
        </p:spPr>
      </p:pic>
    </p:spTree>
    <p:extLst>
      <p:ext uri="{BB962C8B-B14F-4D97-AF65-F5344CB8AC3E}">
        <p14:creationId xmlns:p14="http://schemas.microsoft.com/office/powerpoint/2010/main" val="3351766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C1A944F-FF48-4291-09A7-4D17AE081A8D}"/>
              </a:ext>
            </a:extLst>
          </p:cNvPr>
          <p:cNvGrpSpPr/>
          <p:nvPr/>
        </p:nvGrpSpPr>
        <p:grpSpPr>
          <a:xfrm rot="5400000">
            <a:off x="1874836" y="4829244"/>
            <a:ext cx="4018966" cy="5626551"/>
            <a:chOff x="297667" y="1454969"/>
            <a:chExt cx="4018966" cy="5626551"/>
          </a:xfrm>
        </p:grpSpPr>
        <p:pic>
          <p:nvPicPr>
            <p:cNvPr id="4" name="Picture 3" descr="A close-up of a medical form&#10;&#10;Description automatically generated">
              <a:extLst>
                <a:ext uri="{FF2B5EF4-FFF2-40B4-BE49-F238E27FC236}">
                  <a16:creationId xmlns:a16="http://schemas.microsoft.com/office/drawing/2014/main" id="{CC612F6F-AA5B-0537-59D8-805094D2853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35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97667" y="1454969"/>
              <a:ext cx="4018966" cy="5626551"/>
            </a:xfrm>
            <a:prstGeom prst="rect">
              <a:avLst/>
            </a:prstGeom>
          </p:spPr>
        </p:pic>
        <p:sp>
          <p:nvSpPr>
            <p:cNvPr id="2" name="TextBox 1">
              <a:extLst>
                <a:ext uri="{FF2B5EF4-FFF2-40B4-BE49-F238E27FC236}">
                  <a16:creationId xmlns:a16="http://schemas.microsoft.com/office/drawing/2014/main" id="{9DEF3428-F165-BC7B-88C2-8B8B779F7A9B}"/>
                </a:ext>
              </a:extLst>
            </p:cNvPr>
            <p:cNvSpPr txBox="1"/>
            <p:nvPr/>
          </p:nvSpPr>
          <p:spPr>
            <a:xfrm>
              <a:off x="495299" y="2791078"/>
              <a:ext cx="3660141" cy="3503523"/>
            </a:xfrm>
            <a:prstGeom prst="rect">
              <a:avLst/>
            </a:prstGeom>
            <a:solidFill>
              <a:schemeClr val="bg1"/>
            </a:solidFill>
          </p:spPr>
          <p:txBody>
            <a:bodyPr wrap="square" rtlCol="0">
              <a:spAutoFit/>
            </a:bodyPr>
            <a:lstStyle/>
            <a:p>
              <a:pPr>
                <a:spcBef>
                  <a:spcPts val="1000"/>
                </a:spcBef>
              </a:pPr>
              <a:r>
                <a:rPr lang="en-US" sz="1000" dirty="0">
                  <a:latin typeface="Times New Roman" panose="02020603050405020304" pitchFamily="18" charset="0"/>
                  <a:cs typeface="Times New Roman" panose="02020603050405020304" pitchFamily="18" charset="0"/>
                </a:rPr>
                <a:t>Bone-white vines have wriggled their way into your veins. As their bleeding sap circulates through your vasculature, you are visited by periodic shocks of tightness in your chest, pain in your left shoulder, and ancient memories of captivity and blood-soaked fields of war.</a:t>
              </a:r>
            </a:p>
            <a:p>
              <a:pPr>
                <a:spcBef>
                  <a:spcPts val="1000"/>
                </a:spcBef>
              </a:pPr>
              <a:r>
                <a:rPr lang="en-US" sz="1000" dirty="0">
                  <a:latin typeface="Times New Roman" panose="02020603050405020304" pitchFamily="18" charset="0"/>
                  <a:cs typeface="Times New Roman" panose="02020603050405020304" pitchFamily="18" charset="0"/>
                </a:rPr>
                <a:t>You have a </a:t>
              </a:r>
              <a:r>
                <a:rPr lang="en-US" sz="1000" i="1" dirty="0">
                  <a:latin typeface="Times New Roman" panose="02020603050405020304" pitchFamily="18" charset="0"/>
                  <a:cs typeface="Times New Roman" panose="02020603050405020304" pitchFamily="18" charset="0"/>
                </a:rPr>
                <a:t>quiet</a:t>
              </a:r>
              <a:r>
                <a:rPr lang="en-US" sz="1000" dirty="0">
                  <a:latin typeface="Times New Roman" panose="02020603050405020304" pitchFamily="18" charset="0"/>
                  <a:cs typeface="Times New Roman" panose="02020603050405020304" pitchFamily="18" charset="0"/>
                </a:rPr>
                <a:t> nagging fear of elves (despite having never met one) and are easily swayed by their intimidation. (DC 13 wisdom save to overcome their influence)</a:t>
              </a:r>
            </a:p>
            <a:p>
              <a:pPr>
                <a:spcBef>
                  <a:spcPts val="1000"/>
                </a:spcBef>
              </a:pPr>
              <a:r>
                <a:rPr lang="en-US" sz="1000" dirty="0">
                  <a:latin typeface="Times New Roman" panose="02020603050405020304" pitchFamily="18" charset="0"/>
                  <a:cs typeface="Times New Roman" panose="02020603050405020304" pitchFamily="18" charset="0"/>
                </a:rPr>
                <a:t>You gain a few new abilities as long as this curse persists:</a:t>
              </a:r>
            </a:p>
            <a:p>
              <a:pPr>
                <a:spcBef>
                  <a:spcPts val="1000"/>
                </a:spcBef>
              </a:pPr>
              <a:r>
                <a:rPr lang="en-US" sz="1000" b="1" dirty="0">
                  <a:latin typeface="Times New Roman" panose="02020603050405020304" pitchFamily="18" charset="0"/>
                  <a:cs typeface="Times New Roman" panose="02020603050405020304" pitchFamily="18" charset="0"/>
                </a:rPr>
                <a:t>Bitter Blood</a:t>
              </a:r>
              <a:r>
                <a:rPr lang="en-US" sz="1000" dirty="0">
                  <a:latin typeface="Times New Roman" panose="02020603050405020304" pitchFamily="18" charset="0"/>
                  <a:cs typeface="Times New Roman" panose="02020603050405020304" pitchFamily="18" charset="0"/>
                </a:rPr>
                <a:t>: When you’re hit with an attack, you may use your reaction and take 1d6 damage to spew gross blood over everything. On this and subsequent hits until the end of your next turn, the attacker takes 2d4 poison damage.</a:t>
              </a:r>
            </a:p>
            <a:p>
              <a:pPr>
                <a:spcBef>
                  <a:spcPts val="1000"/>
                </a:spcBef>
              </a:pPr>
              <a:r>
                <a:rPr lang="en-US" sz="1000" dirty="0">
                  <a:latin typeface="Times New Roman" panose="02020603050405020304" pitchFamily="18" charset="0"/>
                  <a:cs typeface="Times New Roman" panose="02020603050405020304" pitchFamily="18" charset="0"/>
                </a:rPr>
                <a:t>Medicine checks made on you have disadvantage if they touch your blood.</a:t>
              </a:r>
            </a:p>
            <a:p>
              <a:pPr>
                <a:spcBef>
                  <a:spcPts val="1000"/>
                </a:spcBef>
              </a:pPr>
              <a:r>
                <a:rPr lang="en-US" sz="1000" b="1" dirty="0">
                  <a:latin typeface="Times New Roman" panose="02020603050405020304" pitchFamily="18" charset="0"/>
                  <a:cs typeface="Times New Roman" panose="02020603050405020304" pitchFamily="18" charset="0"/>
                </a:rPr>
                <a:t>Plant Infection: </a:t>
              </a:r>
              <a:r>
                <a:rPr lang="en-US" sz="1000" dirty="0">
                  <a:latin typeface="Times New Roman" panose="02020603050405020304" pitchFamily="18" charset="0"/>
                  <a:cs typeface="Times New Roman" panose="02020603050405020304" pitchFamily="18" charset="0"/>
                </a:rPr>
                <a:t>You can cast the </a:t>
              </a:r>
              <a:r>
                <a:rPr lang="en-US" sz="1000" i="1" dirty="0">
                  <a:latin typeface="Times New Roman" panose="02020603050405020304" pitchFamily="18" charset="0"/>
                  <a:cs typeface="Times New Roman" panose="02020603050405020304" pitchFamily="18" charset="0"/>
                </a:rPr>
                <a:t>thorn whip</a:t>
              </a:r>
              <a:r>
                <a:rPr lang="en-US" sz="1000" dirty="0">
                  <a:latin typeface="Times New Roman" panose="02020603050405020304" pitchFamily="18" charset="0"/>
                  <a:cs typeface="Times New Roman" panose="02020603050405020304" pitchFamily="18" charset="0"/>
                </a:rPr>
                <a:t> cantrip, as long as you water the little vine growing in your wound. It can also totally be blighted and killed.</a:t>
              </a:r>
              <a:endParaRPr lang="en-US" sz="1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EC3050C-A483-C146-2D06-8106E06EDC81}"/>
                </a:ext>
              </a:extLst>
            </p:cNvPr>
            <p:cNvSpPr txBox="1"/>
            <p:nvPr/>
          </p:nvSpPr>
          <p:spPr>
            <a:xfrm>
              <a:off x="551594" y="2190981"/>
              <a:ext cx="3547550" cy="246221"/>
            </a:xfrm>
            <a:prstGeom prst="rect">
              <a:avLst/>
            </a:prstGeom>
            <a:solidFill>
              <a:schemeClr val="bg1"/>
            </a:solidFill>
          </p:spPr>
          <p:txBody>
            <a:bodyPr wrap="square" rtlCol="0">
              <a:spAutoFit/>
            </a:bodyPr>
            <a:lstStyle/>
            <a:p>
              <a:r>
                <a:rPr lang="en-US" sz="1000" b="1" dirty="0">
                  <a:latin typeface="Arial" panose="020B0604020202020204" pitchFamily="34" charset="0"/>
                  <a:cs typeface="Arial" panose="020B0604020202020204" pitchFamily="34" charset="0"/>
                </a:rPr>
                <a:t>TYPE</a:t>
              </a:r>
            </a:p>
          </p:txBody>
        </p:sp>
        <p:sp>
          <p:nvSpPr>
            <p:cNvPr id="8" name="Rectangle: Diagonal Corners Snipped 7">
              <a:extLst>
                <a:ext uri="{FF2B5EF4-FFF2-40B4-BE49-F238E27FC236}">
                  <a16:creationId xmlns:a16="http://schemas.microsoft.com/office/drawing/2014/main" id="{EE8F05C0-EA32-3F1B-0EAC-9BBEC74F494D}"/>
                </a:ext>
              </a:extLst>
            </p:cNvPr>
            <p:cNvSpPr/>
            <p:nvPr/>
          </p:nvSpPr>
          <p:spPr>
            <a:xfrm flipH="1">
              <a:off x="551594" y="2437202"/>
              <a:ext cx="3547549" cy="369332"/>
            </a:xfrm>
            <a:prstGeom prst="snip2Diag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Times New Roman" panose="02020603050405020304" pitchFamily="18" charset="0"/>
                  <a:cs typeface="Times New Roman" panose="02020603050405020304" pitchFamily="18" charset="0"/>
                </a:rPr>
                <a:t>Blood Curse</a:t>
              </a:r>
            </a:p>
          </p:txBody>
        </p:sp>
        <p:sp>
          <p:nvSpPr>
            <p:cNvPr id="9" name="Rectangle: Diagonal Corners Snipped 8">
              <a:extLst>
                <a:ext uri="{FF2B5EF4-FFF2-40B4-BE49-F238E27FC236}">
                  <a16:creationId xmlns:a16="http://schemas.microsoft.com/office/drawing/2014/main" id="{76A28B30-4C6E-86C6-BF4B-AB6C7C26993F}"/>
                </a:ext>
              </a:extLst>
            </p:cNvPr>
            <p:cNvSpPr/>
            <p:nvPr/>
          </p:nvSpPr>
          <p:spPr>
            <a:xfrm flipH="1">
              <a:off x="551594" y="1761106"/>
              <a:ext cx="3547549" cy="429875"/>
            </a:xfrm>
            <a:prstGeom prst="snip2Diag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err="1">
                  <a:solidFill>
                    <a:schemeClr val="tx1"/>
                  </a:solidFill>
                  <a:latin typeface="Times New Roman" panose="02020603050405020304" pitchFamily="18" charset="0"/>
                  <a:cs typeface="Times New Roman" panose="02020603050405020304" pitchFamily="18" charset="0"/>
                </a:rPr>
                <a:t>Skinsplinter</a:t>
              </a:r>
              <a:r>
                <a:rPr lang="en-US" sz="2200" dirty="0">
                  <a:solidFill>
                    <a:schemeClr val="tx1"/>
                  </a:solidFill>
                  <a:latin typeface="Times New Roman" panose="02020603050405020304" pitchFamily="18" charset="0"/>
                  <a:cs typeface="Times New Roman" panose="02020603050405020304" pitchFamily="18" charset="0"/>
                </a:rPr>
                <a:t> Growth</a:t>
              </a:r>
            </a:p>
          </p:txBody>
        </p:sp>
      </p:grpSp>
      <p:pic>
        <p:nvPicPr>
          <p:cNvPr id="3" name="Picture 2">
            <a:extLst>
              <a:ext uri="{FF2B5EF4-FFF2-40B4-BE49-F238E27FC236}">
                <a16:creationId xmlns:a16="http://schemas.microsoft.com/office/drawing/2014/main" id="{F1E252F1-0B77-5723-9450-A61876139EF0}"/>
              </a:ext>
            </a:extLst>
          </p:cNvPr>
          <p:cNvPicPr>
            <a:picLocks noChangeAspect="1"/>
          </p:cNvPicPr>
          <p:nvPr/>
        </p:nvPicPr>
        <p:blipFill>
          <a:blip r:embed="rId4"/>
          <a:stretch>
            <a:fillRect/>
          </a:stretch>
        </p:blipFill>
        <p:spPr>
          <a:xfrm>
            <a:off x="1071043" y="190779"/>
            <a:ext cx="5627096" cy="4017612"/>
          </a:xfrm>
          <a:prstGeom prst="rect">
            <a:avLst/>
          </a:prstGeom>
        </p:spPr>
      </p:pic>
    </p:spTree>
    <p:extLst>
      <p:ext uri="{BB962C8B-B14F-4D97-AF65-F5344CB8AC3E}">
        <p14:creationId xmlns:p14="http://schemas.microsoft.com/office/powerpoint/2010/main" val="34611955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5966</TotalTime>
  <Words>191</Words>
  <Application>Microsoft Office PowerPoint</Application>
  <PresentationFormat>Custom</PresentationFormat>
  <Paragraphs>9</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Bond</dc:creator>
  <cp:lastModifiedBy>Jack Bond</cp:lastModifiedBy>
  <cp:revision>8</cp:revision>
  <cp:lastPrinted>2024-06-25T13:15:22Z</cp:lastPrinted>
  <dcterms:created xsi:type="dcterms:W3CDTF">2023-08-15T22:34:31Z</dcterms:created>
  <dcterms:modified xsi:type="dcterms:W3CDTF">2024-06-25T13:16:12Z</dcterms:modified>
</cp:coreProperties>
</file>